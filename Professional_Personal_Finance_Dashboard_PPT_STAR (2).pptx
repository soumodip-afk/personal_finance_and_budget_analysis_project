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ACDFA"/>
                </a:solidFill>
                <a:latin typeface="Aptos"/>
              </a:defRPr>
            </a:pPr>
            <a:r>
              <a:t>EXCEL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6583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Personal Finance</a:t>
            </a:r>
            <a:br/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35808"/>
            <a:ext cx="6217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DCE6F6"/>
                </a:solidFill>
                <a:latin typeface="Aptos"/>
              </a:defRPr>
            </a:pPr>
            <a:r>
              <a:t>Track income, expenses, savings &amp; budget in one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886200"/>
            <a:ext cx="1874519" cy="36576"/>
          </a:xfrm>
          <a:prstGeom prst="rect">
            <a:avLst/>
          </a:prstGeom>
          <a:solidFill>
            <a:srgbClr val="22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422452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ACDFA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4805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Soumodip Mondal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95604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DDAF0"/>
                </a:solidFill>
                <a:latin typeface="Aptos"/>
              </a:defRPr>
            </a:pPr>
            <a:r>
              <a:t>Microsoft Excel  |  FY 2026  |  441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5715000"/>
            <a:ext cx="4160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dirty="0"/>
              <a:t>Interactive financial </a:t>
            </a:r>
            <a:r>
              <a:rPr dirty="0" err="1"/>
              <a:t>dashbard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1 / 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677375-55AE-4664-A839-25E53A1C5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753152"/>
            <a:ext cx="4740051" cy="19204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8275C"/>
                </a:solidFill>
                <a:latin typeface="Aptos"/>
              </a:defRPr>
            </a:pPr>
            <a:r>
              <a:rPr dirty="0"/>
              <a:t>Business Problem &amp;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527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Why the dashboard was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166360" cy="4160520"/>
          </a:xfrm>
          <a:prstGeom prst="roundRect">
            <a:avLst/>
          </a:prstGeom>
          <a:solidFill>
            <a:srgbClr val="F6F8FB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767BE"/>
                </a:solidFill>
                <a:latin typeface="Aptos"/>
              </a:defRPr>
            </a:pPr>
            <a:r>
              <a:t>THE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2732"/>
                </a:solidFill>
                <a:latin typeface="Aptos"/>
              </a:defRPr>
            </a:pPr>
            <a:r>
              <a:t>• The source data contained individual financial transactions.</a:t>
            </a:r>
          </a:p>
          <a:p>
            <a:pPr>
              <a:spcAft>
                <a:spcPts val="1000"/>
              </a:spcAft>
              <a:defRPr sz="1500">
                <a:solidFill>
                  <a:srgbClr val="202732"/>
                </a:solidFill>
                <a:latin typeface="Aptos"/>
              </a:defRPr>
            </a:pPr>
            <a:r>
              <a:t>• It was difficult to see the overall financial position from raw rows.</a:t>
            </a:r>
          </a:p>
          <a:p>
            <a:pPr>
              <a:spcAft>
                <a:spcPts val="1000"/>
              </a:spcAft>
              <a:defRPr sz="1500">
                <a:solidFill>
                  <a:srgbClr val="202732"/>
                </a:solidFill>
                <a:latin typeface="Aptos"/>
              </a:defRPr>
            </a:pPr>
            <a:r>
              <a:t>• Monthly income and expense trends required manual analysis.</a:t>
            </a:r>
          </a:p>
          <a:p>
            <a:pPr>
              <a:spcAft>
                <a:spcPts val="1000"/>
              </a:spcAft>
              <a:defRPr sz="1500">
                <a:solidFill>
                  <a:srgbClr val="202732"/>
                </a:solidFill>
                <a:latin typeface="Aptos"/>
              </a:defRPr>
            </a:pPr>
            <a:r>
              <a:t>• Spending categories, accounts and payment methods were not immediately visible.</a:t>
            </a:r>
          </a:p>
          <a:p>
            <a:pPr>
              <a:spcAft>
                <a:spcPts val="1000"/>
              </a:spcAft>
              <a:defRPr sz="1500">
                <a:solidFill>
                  <a:srgbClr val="202732"/>
                </a:solidFill>
                <a:latin typeface="Aptos"/>
              </a:defRPr>
            </a:pPr>
            <a:r>
              <a:t>• Budget performance and savings needed a consolidated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783080"/>
            <a:ext cx="5532120" cy="4160520"/>
          </a:xfrm>
          <a:prstGeom prst="roundRect">
            <a:avLst/>
          </a:prstGeom>
          <a:solidFill>
            <a:srgbClr val="08275C"/>
          </a:solidFill>
          <a:ln>
            <a:solidFill>
              <a:srgbClr val="08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AACDFA"/>
                </a:solidFill>
                <a:latin typeface="Aptos"/>
              </a:defRPr>
            </a:pPr>
            <a:r>
              <a:rPr dirty="0"/>
              <a:t>PROJECT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Transform raw transaction data into an interactive Excel dashboard that makes financial performance easy to monitor and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02732"/>
                </a:solidFill>
                <a:latin typeface="Aptos"/>
              </a:defRPr>
            </a:pPr>
            <a:r>
              <a:rPr dirty="0"/>
              <a:t>• How much income and expense?</a:t>
            </a:r>
          </a:p>
          <a:p>
            <a:pPr>
              <a:spcAft>
                <a:spcPts val="1000"/>
              </a:spcAft>
              <a:defRPr sz="1300">
                <a:solidFill>
                  <a:srgbClr val="202732"/>
                </a:solidFill>
                <a:latin typeface="Aptos"/>
              </a:defRPr>
            </a:pPr>
            <a:r>
              <a:rPr lang="en-US" dirty="0"/>
              <a:t>• How much was saved?</a:t>
            </a:r>
          </a:p>
          <a:p>
            <a:pPr>
              <a:spcAft>
                <a:spcPts val="1000"/>
              </a:spcAft>
              <a:defRPr sz="1300">
                <a:solidFill>
                  <a:srgbClr val="202732"/>
                </a:solidFill>
                <a:latin typeface="Aptos"/>
              </a:defRPr>
            </a:pPr>
            <a:r>
              <a:rPr lang="en-US" dirty="0"/>
              <a:t>• How is the budget being utilized?</a:t>
            </a:r>
          </a:p>
          <a:p>
            <a:pPr>
              <a:spcAft>
                <a:spcPts val="1000"/>
              </a:spcAft>
              <a:defRPr sz="1300">
                <a:solidFill>
                  <a:srgbClr val="202732"/>
                </a:solidFill>
                <a:latin typeface="Aptos"/>
              </a:defRPr>
            </a:pPr>
            <a:r>
              <a:rPr dirty="0"/>
              <a:t>• Which categories and accounts drive transactions?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8275C"/>
                </a:solidFill>
                <a:latin typeface="Aptos"/>
              </a:defRPr>
            </a:pPr>
            <a:r>
              <a:t>Data &amp; Analysis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527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Building the analysis around measurable financial KPIs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73152" cy="960120"/>
          </a:xfrm>
          <a:prstGeom prst="rect">
            <a:avLst/>
          </a:prstGeom>
          <a:solidFill>
            <a:srgbClr val="3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3852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1284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441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7830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52928" y="1783080"/>
            <a:ext cx="73152" cy="960120"/>
          </a:xfrm>
          <a:prstGeom prst="rect">
            <a:avLst/>
          </a:prstGeom>
          <a:solidFill>
            <a:srgbClr val="35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4096" y="193852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INCOME TXNS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21284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7830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38928" y="1783080"/>
            <a:ext cx="73152" cy="960120"/>
          </a:xfrm>
          <a:prstGeom prst="rect">
            <a:avLst/>
          </a:prstGeom>
          <a:solidFill>
            <a:srgbClr val="E1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0096" y="193852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EXPENSE TXNS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21284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342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24927" y="1783080"/>
            <a:ext cx="73152" cy="960120"/>
          </a:xfrm>
          <a:prstGeom prst="rect">
            <a:avLst/>
          </a:prstGeom>
          <a:solidFill>
            <a:srgbClr val="22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6096" y="193852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212848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783080"/>
            <a:ext cx="1901952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10928" y="1783080"/>
            <a:ext cx="73152" cy="960120"/>
          </a:xfrm>
          <a:prstGeom prst="rect">
            <a:avLst/>
          </a:prstGeom>
          <a:solidFill>
            <a:srgbClr val="3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2096" y="1938528"/>
            <a:ext cx="1581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212848"/>
            <a:ext cx="15819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63240"/>
            <a:ext cx="5349240" cy="2697480"/>
          </a:xfrm>
          <a:prstGeom prst="roundRect">
            <a:avLst/>
          </a:prstGeom>
          <a:solidFill>
            <a:srgbClr val="F6F8FB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3375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67BE"/>
                </a:solidFill>
                <a:latin typeface="Aptos"/>
              </a:defRPr>
            </a:pPr>
            <a:r>
              <a:t>KEY DATA FIELDS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49039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Date, Transaction Type and Amount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Category and Sub-Category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Account, Bank and Payment Method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Budget, Savings Goal and Balance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Month and Quarter for trend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063240"/>
            <a:ext cx="5468112" cy="2697480"/>
          </a:xfrm>
          <a:prstGeom prst="roundRect">
            <a:avLst/>
          </a:prstGeom>
          <a:solidFill>
            <a:srgbClr val="E8F0FC"/>
          </a:solidFill>
          <a:ln>
            <a:solidFill>
              <a:srgbClr val="CD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337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67BE"/>
                </a:solidFill>
                <a:latin typeface="Aptos"/>
              </a:defRPr>
            </a:pPr>
            <a:r>
              <a:t>ANALYSIS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749039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Total Income &amp; Total Expenses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Net Savings &amp; Savings Rate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Budget Utilization &amp; Current Balance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Monthly trends and category analysis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Account, bank and payment-method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8275C"/>
                </a:solidFill>
                <a:latin typeface="Aptos"/>
              </a:defRPr>
            </a:pPr>
            <a:r>
              <a:t>Excel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527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From raw transactions to an interactive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Organize &amp; validate 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689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Build financial KPIs with formulas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Summarize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Create PivotTables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Create charts and comparisons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045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Interact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Add Month &amp; Account slicers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59" y="1755648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94976" y="19202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2212848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8275C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4976" y="25420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C6574"/>
                </a:solidFill>
                <a:latin typeface="Aptos"/>
              </a:defRPr>
            </a:pPr>
            <a:r>
              <a:t>Assemble the final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0259" y="3387852"/>
            <a:ext cx="5047488" cy="2487168"/>
          </a:xfrm>
          <a:prstGeom prst="roundRect">
            <a:avLst/>
          </a:prstGeom>
          <a:solidFill>
            <a:srgbClr val="08275C"/>
          </a:solidFill>
          <a:ln>
            <a:solidFill>
              <a:srgbClr val="08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71416" y="3626397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AACDFA"/>
                </a:solidFill>
                <a:latin typeface="Aptos"/>
              </a:defRPr>
            </a:pPr>
            <a:r>
              <a:rPr dirty="0"/>
              <a:t>KEY FORMULAS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4099363"/>
            <a:ext cx="4297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Net Savings = Income − Expenses</a:t>
            </a:r>
            <a:br>
              <a:rPr dirty="0"/>
            </a:br>
            <a:r>
              <a:rPr dirty="0"/>
              <a:t>Savings Rate = Net Savings ÷ Income</a:t>
            </a:r>
            <a:br>
              <a:rPr dirty="0"/>
            </a:br>
            <a:r>
              <a:rPr dirty="0"/>
              <a:t>Budget Utilization = Expenses ÷ Budget</a:t>
            </a:r>
            <a:br>
              <a:rPr dirty="0"/>
            </a:br>
            <a:r>
              <a:rPr dirty="0"/>
              <a:t>Current Balance = Latest recorded 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0067" y="5378934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9CDEB"/>
                </a:solidFill>
                <a:latin typeface="Aptos"/>
              </a:defRPr>
            </a:pPr>
            <a:r>
              <a:rPr dirty="0"/>
              <a:t>Image to use: Excel KPI calculation 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04 |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8275C"/>
                </a:solidFill>
                <a:latin typeface="Aptos"/>
              </a:defRPr>
            </a:pPr>
            <a:r>
              <a:t>Final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527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574"/>
                </a:solidFill>
                <a:latin typeface="Aptos"/>
              </a:defRPr>
            </a:pPr>
            <a:r>
              <a:t>One-page view of income, expenses, savings and spending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217920"/>
            <a:ext cx="4160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Use this full dashboard screenshot as the main presentation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5 / 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385388-662B-4100-A667-BACFE1D13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36" y="1551082"/>
            <a:ext cx="10547652" cy="4831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767BE"/>
                </a:solidFill>
                <a:latin typeface="Aptos"/>
              </a:defRPr>
            </a:pPr>
            <a:r>
              <a:t>05 |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8275C"/>
                </a:solidFill>
                <a:latin typeface="Aptos"/>
              </a:defRPr>
            </a:pPr>
            <a:r>
              <a:t>Results, Insights &amp;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73152" cy="1005840"/>
          </a:xfrm>
          <a:prstGeom prst="rect">
            <a:avLst/>
          </a:prstGeom>
          <a:solidFill>
            <a:srgbClr val="37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TOTAL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93976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₹ 3.836M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664208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52928" y="1664208"/>
            <a:ext cx="73152" cy="1005840"/>
          </a:xfrm>
          <a:prstGeom prst="rect">
            <a:avLst/>
          </a:prstGeom>
          <a:solidFill>
            <a:srgbClr val="E1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54096" y="181965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TOTAL 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093976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₹ 3.452M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664208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38928" y="1664208"/>
            <a:ext cx="73152" cy="1005840"/>
          </a:xfrm>
          <a:prstGeom prst="rect">
            <a:avLst/>
          </a:prstGeom>
          <a:solidFill>
            <a:srgbClr val="359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0096" y="181965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NET 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093976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₹ 383.9K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664208"/>
            <a:ext cx="2148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24927" y="1664208"/>
            <a:ext cx="73152" cy="1005840"/>
          </a:xfrm>
          <a:prstGeom prst="rect">
            <a:avLst/>
          </a:prstGeom>
          <a:solidFill>
            <a:srgbClr val="229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6096" y="181965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SAVINGS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2093976"/>
            <a:ext cx="1828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664208"/>
            <a:ext cx="19019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10928" y="1664208"/>
            <a:ext cx="73152" cy="1005840"/>
          </a:xfrm>
          <a:prstGeom prst="rect">
            <a:avLst/>
          </a:prstGeom>
          <a:solidFill>
            <a:srgbClr val="E1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2096" y="1819656"/>
            <a:ext cx="15819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C6574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2093976"/>
            <a:ext cx="15819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8275C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971800"/>
            <a:ext cx="5532120" cy="2606040"/>
          </a:xfrm>
          <a:prstGeom prst="roundRect">
            <a:avLst/>
          </a:prstGeom>
          <a:solidFill>
            <a:srgbClr val="F6F8FB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246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67BE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Converted 441 raw transactions into a structured analytical dashboard.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Created KPI-driven financial monitoring.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Enabled monthly and account-level filtering.</a:t>
            </a:r>
          </a:p>
          <a:p>
            <a:pPr>
              <a:spcAft>
                <a:spcPts val="1000"/>
              </a:spcAft>
              <a:defRPr sz="1400">
                <a:solidFill>
                  <a:srgbClr val="202732"/>
                </a:solidFill>
                <a:latin typeface="Aptos"/>
              </a:defRPr>
            </a:pPr>
            <a:r>
              <a:t>• Combined numerical analysis with visual storytelling.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971800"/>
            <a:ext cx="5257800" cy="2606040"/>
          </a:xfrm>
          <a:prstGeom prst="roundRect">
            <a:avLst/>
          </a:prstGeom>
          <a:solidFill>
            <a:srgbClr val="08275C"/>
          </a:solidFill>
          <a:ln>
            <a:solidFill>
              <a:srgbClr val="082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246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ACDFA"/>
                </a:solidFill>
                <a:latin typeface="Aptos"/>
              </a:defRPr>
            </a:pPr>
            <a:r>
              <a:t>LEARNING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6576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Excel formulas and financial calculations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PivotTables and PivotCharts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Slicers and interactive reporting</a:t>
            </a:r>
          </a:p>
          <a:p>
            <a:pPr>
              <a:spcAft>
                <a:spcPts val="9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Dashboard design and data storytelling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47104"/>
            <a:ext cx="5943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574"/>
                </a:solidFill>
                <a:latin typeface="Aptos"/>
              </a:defRPr>
            </a:pPr>
            <a:r>
              <a:t>PERSONAL FINANCE DASHBOARD  |  EXCEL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47104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574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489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mondal.soumodip124@gmail.com</cp:lastModifiedBy>
  <cp:revision>3</cp:revision>
  <dcterms:created xsi:type="dcterms:W3CDTF">2013-01-27T09:14:16Z</dcterms:created>
  <dcterms:modified xsi:type="dcterms:W3CDTF">2026-09-30T22:36:24Z</dcterms:modified>
  <cp:category/>
</cp:coreProperties>
</file>